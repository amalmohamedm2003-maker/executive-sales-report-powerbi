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22" r:id="rId1"/>
  </p:sldMasterIdLst>
  <p:notesMasterIdLst>
    <p:notesMasterId r:id="rId22"/>
  </p:notesMasterIdLst>
  <p:sldIdLst>
    <p:sldId id="256" r:id="rId2"/>
    <p:sldId id="257" r:id="rId3"/>
    <p:sldId id="274" r:id="rId4"/>
    <p:sldId id="271" r:id="rId5"/>
    <p:sldId id="272" r:id="rId6"/>
    <p:sldId id="258" r:id="rId7"/>
    <p:sldId id="259" r:id="rId8"/>
    <p:sldId id="260" r:id="rId9"/>
    <p:sldId id="261" r:id="rId10"/>
    <p:sldId id="262" r:id="rId11"/>
    <p:sldId id="275" r:id="rId12"/>
    <p:sldId id="263" r:id="rId13"/>
    <p:sldId id="264" r:id="rId14"/>
    <p:sldId id="265" r:id="rId15"/>
    <p:sldId id="266" r:id="rId16"/>
    <p:sldId id="267" r:id="rId17"/>
    <p:sldId id="273" r:id="rId18"/>
    <p:sldId id="268" r:id="rId19"/>
    <p:sldId id="269" r:id="rId20"/>
    <p:sldId id="270" r:id="rId21"/>
  </p:sldIdLst>
  <p:sldSz cx="12192000" cy="6858000"/>
  <p:notesSz cx="6858000" cy="9144000"/>
  <p:embeddedFontLst>
    <p:embeddedFont>
      <p:font typeface="Copperplate Gothic Light" panose="020E0507020206020404" pitchFamily="34" charset="0"/>
      <p:regular r:id="rId23"/>
    </p:embeddedFont>
    <p:embeddedFont>
      <p:font typeface="Wingdings 2" panose="05020102010507070707" pitchFamily="18" charset="2"/>
      <p:regular r:id="rId24"/>
    </p:embeddedFont>
    <p:embeddedFont>
      <p:font typeface="Wide Latin" panose="020A0A07050505020404" pitchFamily="18" charset="0"/>
      <p:regular r:id="rId25"/>
    </p:embeddedFont>
    <p:embeddedFont>
      <p:font typeface="Century Schoolbook" panose="02040604050505020304" pitchFamily="18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Lato" panose="020B0604020202020204" charset="0"/>
      <p:regular r:id="rId34"/>
      <p:bold r:id="rId35"/>
      <p:italic r:id="rId36"/>
      <p:boldItalic r:id="rId37"/>
    </p:embeddedFont>
    <p:embeddedFont>
      <p:font typeface="Poppins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74C755-351F-40F9-94BC-FD0086BF36F3}">
  <a:tblStyle styleId="{B774C755-351F-40F9-94BC-FD0086BF36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1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917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2738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272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2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3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1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6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3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8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9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6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654" y="0"/>
            <a:ext cx="12246654" cy="6929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reflection endPos="0" dist="50800" dir="5400000" sy="-100000" algn="bl" rotWithShape="0"/>
          </a:effectLst>
        </p:spPr>
      </p:pic>
      <p:sp>
        <p:nvSpPr>
          <p:cNvPr id="85" name="Google Shape;85;p13"/>
          <p:cNvSpPr txBox="1"/>
          <p:nvPr/>
        </p:nvSpPr>
        <p:spPr>
          <a:xfrm>
            <a:off x="2008187" y="415585"/>
            <a:ext cx="8051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Wide Latin" panose="020A0A07050505020404" pitchFamily="18" charset="0"/>
                <a:ea typeface="Poppins"/>
                <a:cs typeface="Poppins"/>
                <a:sym typeface="Poppins"/>
              </a:rPr>
              <a:t>Executive Sales Report</a:t>
            </a:r>
            <a:endParaRPr sz="2800" dirty="0">
              <a:solidFill>
                <a:schemeClr val="dk1"/>
              </a:solidFill>
              <a:latin typeface="Wide Latin" panose="020A0A070505050204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98936" y="6296342"/>
            <a:ext cx="76677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comprehensive analysis of sales </a:t>
            </a:r>
            <a:r>
              <a:rPr lang="en-US" sz="1650" b="1" i="0" u="none" strike="noStrike" cap="none" dirty="0" smtClean="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</a:t>
            </a:r>
            <a:r>
              <a:rPr lang="en-US" sz="1650" b="1" i="0" u="none" strike="noStrike" cap="none" dirty="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strategic recommendations.</a:t>
            </a:r>
            <a:endParaRPr b="1" dirty="0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020365" y="3057525"/>
            <a:ext cx="1015126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Part 1: Sales Performance Review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476750" y="4105275"/>
            <a:ext cx="3238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metrics and dashboard analysis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860" y="850643"/>
            <a:ext cx="8761413" cy="728480"/>
          </a:xfrm>
        </p:spPr>
        <p:txBody>
          <a:bodyPr/>
          <a:lstStyle/>
          <a:p>
            <a:r>
              <a:rPr lang="en-US" b="1" dirty="0" smtClean="0">
                <a:latin typeface="Copperplate Gothic Light" panose="020E0507020206020404" pitchFamily="34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Copperplate Gothic Light" panose="020E0507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5217" y="1881113"/>
            <a:ext cx="1016816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trend and growth and sales over year,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month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product which product increase the sales of the overall time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derive key insights and inferences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discuss strategic business proposal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245" y="3563803"/>
            <a:ext cx="2728595" cy="272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6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1376" y="2027789"/>
            <a:ext cx="7772400" cy="1470025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5400" dirty="0" smtClean="0">
                <a:latin typeface="Copperplate Gothic Light" panose="020E0507020206020404" pitchFamily="34" charset="0"/>
              </a:rPr>
              <a:t>DATASET INTRODUCTION</a:t>
            </a:r>
            <a:endParaRPr lang="en-IN" sz="5400" dirty="0">
              <a:latin typeface="Copperplate Gothic Light" panose="020E05070202060204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1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543559" y="202883"/>
            <a:ext cx="10575925" cy="579437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pperplate Gothic Light" panose="020E0507020206020404" pitchFamily="34" charset="0"/>
              </a:rPr>
              <a:t>DATASET 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16"/>
          <a:stretch/>
        </p:blipFill>
        <p:spPr>
          <a:xfrm>
            <a:off x="802322" y="5747574"/>
            <a:ext cx="10058400" cy="6143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2322" y="904240"/>
            <a:ext cx="10068560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Online Retail II data set contains all the transactions occurring for a UK-based and registered, non-store online retail between 01/12/2009 and 09/12/2011.The company mainly sells unique all-occasion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gift-ware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Many customers of the company are wholesalers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InvoiceNo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6-digit integral number uniquely assigned to each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StockCode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5-digit integral number uniquely assigned to each distinct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Product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quantities of each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and time when a transaction was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UnitPrice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per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5-digit integral number uniquely assigned to each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country where a customer resides.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32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title="Screenshot 2025-11-18 221958.png"/>
          <p:cNvPicPr preferRelativeResize="0"/>
          <p:nvPr/>
        </p:nvPicPr>
        <p:blipFill rotWithShape="1">
          <a:blip r:embed="rId3">
            <a:alphaModFix/>
          </a:blip>
          <a:srcRect t="1708" b="12850"/>
          <a:stretch/>
        </p:blipFill>
        <p:spPr>
          <a:xfrm>
            <a:off x="6645554" y="1315720"/>
            <a:ext cx="5286376" cy="514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452550" y="1595863"/>
            <a:ext cx="591777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summary provides a high-level view. For 2011, we see a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YTD of 9.82M</a:t>
            </a: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against a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Year of 10.17M</a:t>
            </a: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We're also </a:t>
            </a:r>
            <a:r>
              <a:rPr lang="en-US" sz="2000" i="0" u="none" strike="noStrike" cap="none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tracking: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i="0" u="none" strike="noStrike" cap="none" dirty="0" smtClean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Sales (All Time) : </a:t>
            </a:r>
            <a:r>
              <a:rPr lang="en-US" sz="20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20.81M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</a:t>
            </a: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Value (AOV): </a:t>
            </a:r>
            <a:r>
              <a:rPr lang="en-US" sz="20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459.10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Last 3 Months: </a:t>
            </a:r>
            <a:r>
              <a:rPr lang="en-US" sz="20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3.30M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Executive Summary Dashboard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459741" y="2469244"/>
            <a:ext cx="4925060" cy="150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 dirty="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20.81M</a:t>
            </a:r>
            <a:endParaRPr dirty="0"/>
          </a:p>
        </p:txBody>
      </p:sp>
      <p:sp>
        <p:nvSpPr>
          <p:cNvPr id="113" name="Google Shape;113;p16"/>
          <p:cNvSpPr txBox="1"/>
          <p:nvPr/>
        </p:nvSpPr>
        <p:spPr>
          <a:xfrm>
            <a:off x="279083" y="408146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Total Sales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642697" y="2307323"/>
            <a:ext cx="37344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Focus on What Matters</a:t>
            </a:r>
            <a:endParaRPr dirty="0"/>
          </a:p>
        </p:txBody>
      </p:sp>
      <p:sp>
        <p:nvSpPr>
          <p:cNvPr id="115" name="Google Shape;115;p16"/>
          <p:cNvSpPr txBox="1"/>
          <p:nvPr/>
        </p:nvSpPr>
        <p:spPr>
          <a:xfrm>
            <a:off x="5866765" y="2676655"/>
            <a:ext cx="52863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entire dataset shows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20.81 Million</a:t>
            </a: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total sales. Our Average Order Value (AOV) is high at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459.10</a:t>
            </a: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Million</a:t>
            </a:r>
            <a:r>
              <a:rPr lang="en-US" sz="20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total units sold. While the overall project shows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0.89% YoY growth</a:t>
            </a: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Performance Indicators (Overall)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350025" y="2009775"/>
            <a:ext cx="5286300" cy="47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quarterly chart reveals a critical seasonal trend:</a:t>
            </a:r>
            <a:endParaRPr sz="2400" i="0" u="none" strike="noStrike" cap="none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consistently and dramatically peak in </a:t>
            </a:r>
            <a:r>
              <a:rPr lang="en-US" sz="2400" b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Q4 of each year</a:t>
            </a:r>
            <a:r>
              <a:rPr lang="en-US" sz="2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2010 Q4 sales (light blue) were approx. </a:t>
            </a:r>
            <a:r>
              <a:rPr lang="en-US" sz="2400" b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3.5M</a:t>
            </a:r>
            <a:r>
              <a:rPr lang="en-US" sz="2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2011 trend  shows a powerful ramp-up, with Q4 sales on track to </a:t>
            </a:r>
            <a:r>
              <a:rPr lang="en-US" sz="2400" b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3.30M</a:t>
            </a:r>
            <a:r>
              <a:rPr lang="en-US" sz="2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significantly outpacing the previous year's peak.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7" title="Screenshot 2025-11-18 222652.png"/>
          <p:cNvPicPr preferRelativeResize="0"/>
          <p:nvPr/>
        </p:nvPicPr>
        <p:blipFill rotWithShape="1">
          <a:blip r:embed="rId4">
            <a:alphaModFix/>
          </a:blip>
          <a:srcRect l="-4435" r="8429"/>
          <a:stretch/>
        </p:blipFill>
        <p:spPr>
          <a:xfrm>
            <a:off x="5529150" y="2009775"/>
            <a:ext cx="6081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Quarterly Sales Trends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199725" y="1766300"/>
            <a:ext cx="5605500" cy="373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product dashboard breaks down our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20.8M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sales:</a:t>
            </a:r>
            <a:endParaRPr sz="18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Lato"/>
              <a:buChar char="●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treemap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bar chart both identify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"REGENCY CAKESTAND 3 TIER"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 top product.</a:t>
            </a: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Lato"/>
              <a:buChar char="●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"Manual"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"DOTCOM POSTAGE"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also top-tier revenue drivers.</a:t>
            </a: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Lato"/>
              <a:buChar char="●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table reveals a key insight: some products drive revenue (e.g., "Manual" with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429.13 AOV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while others drive *volume* (e.g., "WHITE HANGING HEART" with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100k+ units</a:t>
            </a:r>
            <a:r>
              <a:rPr lang="en-US" sz="18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8" title="Screenshot 2025-11-18 223420.png"/>
          <p:cNvPicPr preferRelativeResize="0"/>
          <p:nvPr/>
        </p:nvPicPr>
        <p:blipFill rotWithShape="1">
          <a:blip r:embed="rId4">
            <a:alphaModFix/>
          </a:blip>
          <a:srcRect l="1793" r="1793"/>
          <a:stretch/>
        </p:blipFill>
        <p:spPr>
          <a:xfrm>
            <a:off x="6005350" y="1766300"/>
            <a:ext cx="5605624" cy="40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714375" y="3914775"/>
            <a:ext cx="95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Product Performance Dashboard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24000"/>
            <a:ext cx="10045700" cy="486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673100" y="5625152"/>
            <a:ext cx="99441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"REGENCY CAKESTAND" leads with </a:t>
            </a:r>
            <a:r>
              <a:rPr lang="en-US" sz="1350" b="1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~3.44M</a:t>
            </a:r>
            <a:r>
              <a:rPr lang="en-US" sz="1350" b="0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in sales. It's followed closely by "Manual" (</a:t>
            </a:r>
            <a:r>
              <a:rPr lang="en-US" sz="1350" b="1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~3.40M</a:t>
            </a:r>
            <a:r>
              <a:rPr lang="en-US" sz="1350" b="0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and "DOTCOM POSTAGE" (</a:t>
            </a:r>
            <a:r>
              <a:rPr lang="en-US" sz="1350" b="1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~3.22M</a:t>
            </a:r>
            <a:r>
              <a:rPr lang="en-US" sz="1350" b="0" i="1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). These three products are our core revenue drivers.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Top Products by Sales (Relative)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1400175" y="5575202"/>
            <a:ext cx="9944100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The customer analytics report shows that </a:t>
            </a:r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90.06%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of all customers (964.68k) are based in the </a:t>
            </a:r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United Kingdom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smtClean="0">
                <a:solidFill>
                  <a:srgbClr val="1E3A8A"/>
                </a:solidFill>
                <a:latin typeface="Poppins"/>
                <a:cs typeface="Poppins"/>
                <a:sym typeface="Poppins"/>
              </a:rPr>
              <a:t>Customer Analytics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003" y="1473092"/>
            <a:ext cx="5853717" cy="410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0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0"/>
          <p:cNvGraphicFramePr/>
          <p:nvPr/>
        </p:nvGraphicFramePr>
        <p:xfrm>
          <a:off x="571500" y="2281237"/>
          <a:ext cx="11049000" cy="3247975"/>
        </p:xfrm>
        <a:graphic>
          <a:graphicData uri="http://schemas.openxmlformats.org/drawingml/2006/table">
            <a:tbl>
              <a:tblPr firstRow="1" bandRow="1">
                <a:noFill/>
                <a:tableStyleId>{B774C755-351F-40F9-94BC-FD0086BF36F3}</a:tableStyleId>
              </a:tblPr>
              <a:tblGrid>
                <a:gridCol w="396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C4A6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C4A6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StockCode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C4A6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Sales YoY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C4A6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AOV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C4A6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Sales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C4A6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Units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REGENCY CAKESTAND 3 TIER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22423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87.65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3,44,563.25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27232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429.13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3,40,731.33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DOTCOM POSTAGE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226.90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3,22,657.48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2941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HANGING HEART T-LIGHT HOLDER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85123A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48.81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2,67,102.06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100301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JUMBO BAG RED RETROSPOT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85099B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46.17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1,85,566.47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97375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Google Shape;150;p20"/>
          <p:cNvSpPr/>
          <p:nvPr/>
        </p:nvSpPr>
        <p:spPr>
          <a:xfrm>
            <a:off x="571500" y="2809875"/>
            <a:ext cx="3962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4534346" y="2809875"/>
            <a:ext cx="1511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045547" y="2809875"/>
            <a:ext cx="1555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7601545" y="2809875"/>
            <a:ext cx="985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8586638" y="2809875"/>
            <a:ext cx="15223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10109001" y="2809875"/>
            <a:ext cx="1511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571500" y="3352800"/>
            <a:ext cx="3962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534346" y="3352800"/>
            <a:ext cx="1511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6045547" y="3352800"/>
            <a:ext cx="1555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7601545" y="3352800"/>
            <a:ext cx="985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8586638" y="3352800"/>
            <a:ext cx="15223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10109001" y="3352800"/>
            <a:ext cx="1511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71500" y="3895725"/>
            <a:ext cx="3962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534346" y="3895725"/>
            <a:ext cx="1511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6045547" y="3895725"/>
            <a:ext cx="1555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601545" y="3895725"/>
            <a:ext cx="985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8586638" y="3895725"/>
            <a:ext cx="15223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0109001" y="3895725"/>
            <a:ext cx="1511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71500" y="4438650"/>
            <a:ext cx="3962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534346" y="4438650"/>
            <a:ext cx="1511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045547" y="4438650"/>
            <a:ext cx="1555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7601545" y="4438650"/>
            <a:ext cx="985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586638" y="4438650"/>
            <a:ext cx="15223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0109001" y="4438650"/>
            <a:ext cx="1511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71500" y="4981575"/>
            <a:ext cx="3962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34346" y="4981575"/>
            <a:ext cx="1511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045547" y="4981575"/>
            <a:ext cx="1555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601545" y="4981575"/>
            <a:ext cx="985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586638" y="4981575"/>
            <a:ext cx="15223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0109001" y="4981575"/>
            <a:ext cx="1511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101854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Top Products - Detailed View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1979290" y="1934165"/>
            <a:ext cx="8568600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Critical Q4 Performance:</a:t>
            </a:r>
            <a:r>
              <a:rPr lang="en-US" sz="19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Sales consistently peak in Q4. In 2010, Q4 accounted for approx. </a:t>
            </a:r>
            <a:r>
              <a:rPr lang="en-US" sz="19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3.5M</a:t>
            </a:r>
            <a:r>
              <a:rPr lang="en-US" sz="19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in sales. The 2011 Q4 is poised to exceed </a:t>
            </a:r>
            <a:r>
              <a:rPr lang="en-US" sz="19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4.0M</a:t>
            </a:r>
            <a:r>
              <a:rPr lang="en-US" sz="1900" b="0" i="0" u="none" strike="noStrike" cap="none" dirty="0" smtClean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900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High-Value Drivers: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"Manual" (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3.4M sales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00" dirty="0" smtClean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and "DOTCOM POSTAGE" (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3.2M </a:t>
            </a:r>
            <a:r>
              <a:rPr lang="en-US" sz="1900" b="1" dirty="0" smtClean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sales</a:t>
            </a:r>
            <a:r>
              <a:rPr lang="en-US" sz="1900" dirty="0" smtClean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have extremely high AOVs (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429.13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226.90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respectively).</a:t>
            </a:r>
            <a:endParaRPr sz="1900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 b="1" dirty="0" smtClean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Geographic 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Concentration: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The customer analytics report shows that 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90.06%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of all customers (964.68k) are based in the </a:t>
            </a:r>
            <a:r>
              <a:rPr lang="en-US" sz="19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United Kingdom</a:t>
            </a:r>
            <a:r>
              <a:rPr lang="en-US" sz="19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900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1742" y="217546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1741" y="332223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81741" y="458329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Insights &amp; Inferences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79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Maximize Q4 Campaigns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6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Aggressively scale marketing and ad spend in Q3 to capitalize on the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4M+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Q4 sales potential. Secure inventory for the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~100k unit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high-volume movers.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460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Segment Product Strategy</a:t>
            </a:r>
            <a:endParaRPr dirty="0"/>
          </a:p>
        </p:txBody>
      </p:sp>
      <p:sp>
        <p:nvSpPr>
          <p:cNvPr id="203" name="Google Shape;203;p22"/>
          <p:cNvSpPr txBox="1"/>
          <p:nvPr/>
        </p:nvSpPr>
        <p:spPr>
          <a:xfrm>
            <a:off x="467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Market "REGENCY CAKESTAND" (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3.4M+ sales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 as a core product. Investigate the high-AOV (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429.13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 "Manual" transactions to replicate their success.</a:t>
            </a:r>
            <a:endParaRPr dirty="0"/>
          </a:p>
        </p:txBody>
      </p:sp>
      <p:sp>
        <p:nvSpPr>
          <p:cNvPr id="204" name="Google Shape;204;p22"/>
          <p:cNvSpPr txBox="1"/>
          <p:nvPr/>
        </p:nvSpPr>
        <p:spPr>
          <a:xfrm>
            <a:off x="841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Explore Market Expansion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848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Given that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90%+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 our customers are in the UK, we are heavily exposed to a single market. Propose a formal analysis to expand into E.U. markets (e.g., Germany, France).</a:t>
            </a:r>
            <a:endParaRPr/>
          </a:p>
        </p:txBody>
      </p:sp>
      <p:pic>
        <p:nvPicPr>
          <p:cNvPr id="206" name="Google Shape;20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400" y="2224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2224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5975" y="22240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Strategic Business Proposal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2115502" y="3057525"/>
            <a:ext cx="796099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Part 2: Report Preparation</a:t>
            </a:r>
            <a:endParaRPr dirty="0"/>
          </a:p>
        </p:txBody>
      </p:sp>
      <p:sp>
        <p:nvSpPr>
          <p:cNvPr id="217" name="Google Shape;217;p23"/>
          <p:cNvSpPr txBox="1"/>
          <p:nvPr/>
        </p:nvSpPr>
        <p:spPr>
          <a:xfrm>
            <a:off x="3745130" y="4200525"/>
            <a:ext cx="47017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Data preparation and methodology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/>
        </p:nvSpPr>
        <p:spPr>
          <a:xfrm>
            <a:off x="1552106" y="1428773"/>
            <a:ext cx="9125100" cy="457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Missing Values: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Reviewed key columns (like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CustomerID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Description) for nulls. Null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CustomerIDs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grouped into an 'Unknown' category for analysis</a:t>
            </a:r>
            <a:r>
              <a:rPr lang="en-US" sz="1800" i="0" u="none" strike="noStrike" cap="none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Table: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blank, disconnected table was created to store all DAX measures, keeping the data model clean and organized</a:t>
            </a:r>
            <a:r>
              <a:rPr lang="en-US" sz="18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Irrelevant Data: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Excluded cancelled orders or transactions with zero/negative quantities that could skew sales analysis</a:t>
            </a:r>
            <a:r>
              <a:rPr lang="en-US" sz="18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Standardizing 'Manual' Entries: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Investigated 'Manual' stock codes, which represent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3.4M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high-value sales, to ensure they were categorized correctly</a:t>
            </a:r>
            <a:r>
              <a:rPr lang="en-US" sz="18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982" y="155725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0" y="2802226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073" y="38185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3223" y="524785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590550" y="523260"/>
            <a:ext cx="991979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DATA PREPARATION &amp; CLEANUP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199" y="451944"/>
            <a:ext cx="11122090" cy="63987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87" y="1417638"/>
            <a:ext cx="7783115" cy="508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5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279" y="3852840"/>
            <a:ext cx="4399281" cy="14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759" y="3852840"/>
            <a:ext cx="4612641" cy="146973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571500" y="1862137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Core Aggregations</a:t>
            </a:r>
            <a:endParaRPr sz="2400" dirty="0"/>
          </a:p>
        </p:txBody>
      </p:sp>
      <p:sp>
        <p:nvSpPr>
          <p:cNvPr id="237" name="Google Shape;237;p25"/>
          <p:cNvSpPr txBox="1"/>
          <p:nvPr/>
        </p:nvSpPr>
        <p:spPr>
          <a:xfrm>
            <a:off x="843280" y="2446375"/>
            <a:ext cx="501459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robust measures were created to form the report's foundation.</a:t>
            </a: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6334125" y="1862137"/>
            <a:ext cx="3256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Time</a:t>
            </a:r>
            <a:r>
              <a:rPr lang="en-US" sz="2400" b="1" i="0" u="none" strike="noStrike" cap="none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dirty="0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Intelligence</a:t>
            </a:r>
            <a:endParaRPr sz="2400" b="1" dirty="0">
              <a:solidFill>
                <a:srgbClr val="0C4A6E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6461759" y="2446375"/>
            <a:ext cx="474472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DAX was used to compare performance across time periods.</a:t>
            </a:r>
            <a:endParaRPr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739289"/>
            <a:ext cx="46710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CORE DAX MEASURES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643633" y="1875609"/>
            <a:ext cx="5286300" cy="401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robust data model is essential for accurate analysis. Key tables were created</a:t>
            </a:r>
            <a:r>
              <a:rPr lang="en-US" sz="1800" i="0" u="none" strike="noStrike" cap="none" dirty="0" smtClean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 dirty="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400"/>
              <a:buFont typeface="Lato"/>
              <a:buChar char="●"/>
            </a:pPr>
            <a:r>
              <a:rPr lang="en-US" sz="1800" b="1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Table:</a:t>
            </a:r>
            <a:r>
              <a:rPr lang="en-US" sz="1800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dedicated 'Date' table was created. This is a best practice in Power BI and is required for all time-intelligence functions (YTD, PY, etc</a:t>
            </a:r>
            <a:r>
              <a:rPr lang="en-US" sz="1800" dirty="0" smtClean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.).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400"/>
              <a:buFont typeface="Lato"/>
              <a:buChar char="●"/>
            </a:pPr>
            <a:endParaRPr sz="1800" dirty="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400"/>
              <a:buFont typeface="Lato"/>
              <a:buChar char="●"/>
            </a:pPr>
            <a:r>
              <a:rPr lang="en-US" sz="1800" b="1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Table:</a:t>
            </a:r>
            <a:r>
              <a:rPr lang="en-US" sz="1800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blank, disconnected table was created to store all DAX measures, keeping the data model clean and organized.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Times New Roman"/>
              <a:buChar char="●"/>
            </a:pPr>
            <a:endParaRPr sz="1800" dirty="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26" title="Screenshot 2025-11-18 223854.png"/>
          <p:cNvPicPr preferRelativeResize="0"/>
          <p:nvPr/>
        </p:nvPicPr>
        <p:blipFill rotWithShape="1">
          <a:blip r:embed="rId4">
            <a:alphaModFix/>
          </a:blip>
          <a:srcRect t="5343" b="15070"/>
          <a:stretch/>
        </p:blipFill>
        <p:spPr>
          <a:xfrm>
            <a:off x="6201103" y="1240500"/>
            <a:ext cx="5384909" cy="52867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521712" y="523547"/>
            <a:ext cx="62346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DATA MODEL: BASIC TABLES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/>
        </p:nvSpPr>
        <p:spPr>
          <a:xfrm>
            <a:off x="295275" y="2490787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 smtClean="0">
                <a:solidFill>
                  <a:srgbClr val="0C4A6E"/>
                </a:solidFill>
                <a:latin typeface="Poppins"/>
                <a:cs typeface="Poppins"/>
                <a:sym typeface="Poppins"/>
              </a:rPr>
              <a:t>Thank You!!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2879</TotalTime>
  <Words>978</Words>
  <Application>Microsoft Office PowerPoint</Application>
  <PresentationFormat>Widescreen</PresentationFormat>
  <Paragraphs>117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Copperplate Gothic Light</vt:lpstr>
      <vt:lpstr>Arial</vt:lpstr>
      <vt:lpstr>Wingdings 2</vt:lpstr>
      <vt:lpstr>Times New Roman</vt:lpstr>
      <vt:lpstr>Wide Latin</vt:lpstr>
      <vt:lpstr>Century Schoolbook</vt:lpstr>
      <vt:lpstr>Calibri</vt:lpstr>
      <vt:lpstr>Lato</vt:lpstr>
      <vt:lpstr>Poppins</vt:lpstr>
      <vt:lpstr>View</vt:lpstr>
      <vt:lpstr>PowerPoint Presentation</vt:lpstr>
      <vt:lpstr>PowerPoint Presentation</vt:lpstr>
      <vt:lpstr>OBJECTIVE</vt:lpstr>
      <vt:lpstr>DATASET INTRODUCTION</vt:lpstr>
      <vt:lpstr>DATASET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</dc:creator>
  <cp:lastModifiedBy>Amal Mohamed M</cp:lastModifiedBy>
  <cp:revision>18</cp:revision>
  <dcterms:modified xsi:type="dcterms:W3CDTF">2025-11-27T08:43:39Z</dcterms:modified>
</cp:coreProperties>
</file>